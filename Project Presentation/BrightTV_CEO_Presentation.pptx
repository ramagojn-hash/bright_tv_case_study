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E2-4145-8D43-C18719863C13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E2-4145-8D43-C18719863C13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E2-4145-8D43-C18719863C13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7E2-4145-8D43-C18719863C13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7E2-4145-8D43-C18719863C13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7E2-4145-8D43-C18719863C13}"/>
              </c:ext>
            </c:extLst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7E2-4145-8D43-C18719863C1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7E2-4145-8D43-C18719863C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0:00</c:v>
                </c:pt>
                <c:pt idx="1">
                  <c:v>1:00</c:v>
                </c:pt>
                <c:pt idx="2">
                  <c:v>2:00</c:v>
                </c:pt>
                <c:pt idx="3">
                  <c:v>3:00</c:v>
                </c:pt>
                <c:pt idx="4">
                  <c:v>4:00</c:v>
                </c:pt>
                <c:pt idx="5">
                  <c:v>5:00</c:v>
                </c:pt>
                <c:pt idx="6">
                  <c:v>6:00</c:v>
                </c:pt>
                <c:pt idx="7">
                  <c:v>7:00</c:v>
                </c:pt>
                <c:pt idx="8">
                  <c:v>8:00</c:v>
                </c:pt>
                <c:pt idx="9">
                  <c:v>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180</c:v>
                </c:pt>
                <c:pt idx="1">
                  <c:v>103</c:v>
                </c:pt>
                <c:pt idx="2">
                  <c:v>80</c:v>
                </c:pt>
                <c:pt idx="3">
                  <c:v>55</c:v>
                </c:pt>
                <c:pt idx="4">
                  <c:v>49</c:v>
                </c:pt>
                <c:pt idx="5">
                  <c:v>94</c:v>
                </c:pt>
                <c:pt idx="6">
                  <c:v>180</c:v>
                </c:pt>
                <c:pt idx="7">
                  <c:v>298</c:v>
                </c:pt>
                <c:pt idx="8">
                  <c:v>401</c:v>
                </c:pt>
                <c:pt idx="9">
                  <c:v>402</c:v>
                </c:pt>
                <c:pt idx="10">
                  <c:v>541</c:v>
                </c:pt>
                <c:pt idx="11">
                  <c:v>539</c:v>
                </c:pt>
                <c:pt idx="12">
                  <c:v>634</c:v>
                </c:pt>
                <c:pt idx="13">
                  <c:v>568</c:v>
                </c:pt>
                <c:pt idx="14">
                  <c:v>620</c:v>
                </c:pt>
                <c:pt idx="15">
                  <c:v>637</c:v>
                </c:pt>
                <c:pt idx="16">
                  <c:v>627</c:v>
                </c:pt>
                <c:pt idx="17">
                  <c:v>648</c:v>
                </c:pt>
                <c:pt idx="18">
                  <c:v>628</c:v>
                </c:pt>
                <c:pt idx="19">
                  <c:v>647</c:v>
                </c:pt>
                <c:pt idx="20">
                  <c:v>622</c:v>
                </c:pt>
                <c:pt idx="21">
                  <c:v>585</c:v>
                </c:pt>
                <c:pt idx="22">
                  <c:v>498</c:v>
                </c:pt>
                <c:pt idx="23">
                  <c:v>364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206-4D4B-991A-1813BFFC3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Sessions</c:v>
                </c:pt>
              </c:strCache>
            </c:strRef>
          </c:tx>
          <c:spPr>
            <a:solidFill>
              <a:srgbClr val="1E2761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  <c:pt idx="6">
                  <c:v>Week 7</c:v>
                </c:pt>
                <c:pt idx="7">
                  <c:v>Week 8</c:v>
                </c:pt>
                <c:pt idx="8">
                  <c:v>Week 9</c:v>
                </c:pt>
                <c:pt idx="9">
                  <c:v>Week 10</c:v>
                </c:pt>
                <c:pt idx="10">
                  <c:v>Week 11</c:v>
                </c:pt>
                <c:pt idx="11">
                  <c:v>Week 12</c:v>
                </c:pt>
                <c:pt idx="12">
                  <c:v>Week 13</c:v>
                </c:pt>
                <c:pt idx="13">
                  <c:v>Week 53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524</c:v>
                </c:pt>
                <c:pt idx="1">
                  <c:v>514</c:v>
                </c:pt>
                <c:pt idx="2">
                  <c:v>510</c:v>
                </c:pt>
                <c:pt idx="3">
                  <c:v>442</c:v>
                </c:pt>
                <c:pt idx="4">
                  <c:v>638</c:v>
                </c:pt>
                <c:pt idx="5">
                  <c:v>533</c:v>
                </c:pt>
                <c:pt idx="6">
                  <c:v>946</c:v>
                </c:pt>
                <c:pt idx="7">
                  <c:v>860</c:v>
                </c:pt>
                <c:pt idx="8">
                  <c:v>1065</c:v>
                </c:pt>
                <c:pt idx="9">
                  <c:v>936</c:v>
                </c:pt>
                <c:pt idx="10">
                  <c:v>811</c:v>
                </c:pt>
                <c:pt idx="11">
                  <c:v>1159</c:v>
                </c:pt>
                <c:pt idx="12">
                  <c:v>853</c:v>
                </c:pt>
                <c:pt idx="13">
                  <c:v>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21-490B-B8CD-5FE0656A3C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ZA" sz="1100" b="0" i="0" u="none" strike="noStrike">
                <a:solidFill>
                  <a:srgbClr val="1E2761"/>
                </a:solidFill>
                <a:latin typeface="Arial"/>
              </a:rPr>
              <a:t>Sessions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51-4C44-BFF1-AE9AB0BA3E54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51-4C44-BFF1-AE9AB0BA3E54}"/>
              </c:ext>
            </c:extLst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51-4C44-BFF1-AE9AB0BA3E54}"/>
              </c:ext>
            </c:extLst>
          </c:dPt>
          <c:dPt>
            <c:idx val="3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51-4C44-BFF1-AE9AB0BA3E54}"/>
              </c:ext>
            </c:extLst>
          </c:dPt>
          <c:dPt>
            <c:idx val="4"/>
            <c:invertIfNegative val="0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A51-4C44-BFF1-AE9AB0BA3E54}"/>
              </c:ext>
            </c:extLst>
          </c:dPt>
          <c:dPt>
            <c:idx val="5"/>
            <c:invertIfNegative val="0"/>
            <c:bubble3D val="0"/>
            <c:spPr>
              <a:solidFill>
                <a:srgbClr val="9B5D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A51-4C44-BFF1-AE9AB0BA3E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&lt;18</c:v>
                </c:pt>
                <c:pt idx="1">
                  <c:v>18-25</c:v>
                </c:pt>
                <c:pt idx="2">
                  <c:v>26-35</c:v>
                </c:pt>
                <c:pt idx="3">
                  <c:v>36-45</c:v>
                </c:pt>
                <c:pt idx="4">
                  <c:v>46-60</c:v>
                </c:pt>
                <c:pt idx="5">
                  <c:v>60+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279</c:v>
                </c:pt>
                <c:pt idx="1">
                  <c:v>1871</c:v>
                </c:pt>
                <c:pt idx="2">
                  <c:v>4118</c:v>
                </c:pt>
                <c:pt idx="3">
                  <c:v>2470</c:v>
                </c:pt>
                <c:pt idx="4">
                  <c:v>917</c:v>
                </c:pt>
                <c:pt idx="5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A51-4C44-BFF1-AE9AB0BA3E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ZA" sz="1100" b="0" i="0" u="none" strike="noStrike">
                <a:solidFill>
                  <a:srgbClr val="1E2761"/>
                </a:solidFill>
                <a:latin typeface="Arial"/>
              </a:rPr>
              <a:t>Sessions by Race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C2-47F9-8C8A-75F7BD98EB7E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C2-47F9-8C8A-75F7BD98EB7E}"/>
              </c:ext>
            </c:extLst>
          </c:dPt>
          <c:dPt>
            <c:idx val="2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C2-47F9-8C8A-75F7BD98EB7E}"/>
              </c:ext>
            </c:extLst>
          </c:dPt>
          <c:dPt>
            <c:idx val="3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C2-47F9-8C8A-75F7BD98EB7E}"/>
              </c:ext>
            </c:extLst>
          </c:dPt>
          <c:dPt>
            <c:idx val="4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CC2-47F9-8C8A-75F7BD98EB7E}"/>
              </c:ext>
            </c:extLst>
          </c:dPt>
          <c:dPt>
            <c:idx val="5"/>
            <c:bubble3D val="0"/>
            <c:spPr>
              <a:solidFill>
                <a:srgbClr val="9B5D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CC2-47F9-8C8A-75F7BD98EB7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C2-47F9-8C8A-75F7BD98EB7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C2-47F9-8C8A-75F7BD98EB7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CC2-47F9-8C8A-75F7BD98EB7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CC2-47F9-8C8A-75F7BD98EB7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CC2-47F9-8C8A-75F7BD98EB7E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CC2-47F9-8C8A-75F7BD98EB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black</c:v>
                </c:pt>
                <c:pt idx="1">
                  <c:v>coloured</c:v>
                </c:pt>
                <c:pt idx="2">
                  <c:v>indian_asian</c:v>
                </c:pt>
                <c:pt idx="3">
                  <c:v>white</c:v>
                </c:pt>
                <c:pt idx="4">
                  <c:v>other</c:v>
                </c:pt>
                <c:pt idx="5">
                  <c:v>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4331</c:v>
                </c:pt>
                <c:pt idx="1">
                  <c:v>1633</c:v>
                </c:pt>
                <c:pt idx="2">
                  <c:v>1575</c:v>
                </c:pt>
                <c:pt idx="3">
                  <c:v>1292</c:v>
                </c:pt>
                <c:pt idx="4">
                  <c:v>102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CC2-47F9-8C8A-75F7BD98EB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3654</c:v>
                </c:pt>
                <c:pt idx="1">
                  <c:v>1845</c:v>
                </c:pt>
                <c:pt idx="2">
                  <c:v>1001</c:v>
                </c:pt>
                <c:pt idx="3">
                  <c:v>918</c:v>
                </c:pt>
                <c:pt idx="4">
                  <c:v>763</c:v>
                </c:pt>
                <c:pt idx="5">
                  <c:v>690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F1-4F9A-8D3A-7F8E1E4AF5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Total Viewing Hours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Hours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534-471F-81F3-76C9BB1DA03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534-471F-81F3-76C9BB1DA03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534-471F-81F3-76C9BB1DA039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534-471F-81F3-76C9BB1DA039}"/>
              </c:ext>
            </c:extLst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534-471F-81F3-76C9BB1DA039}"/>
              </c:ext>
            </c:extLst>
          </c:dPt>
          <c:dPt>
            <c:idx val="5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534-471F-81F3-76C9BB1DA039}"/>
              </c:ext>
            </c:extLst>
          </c:dPt>
          <c:dPt>
            <c:idx val="6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534-471F-81F3-76C9BB1DA039}"/>
              </c:ext>
            </c:extLst>
          </c:dPt>
          <c:dPt>
            <c:idx val="7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534-471F-81F3-76C9BB1DA03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ICC Cricket World Cup 2011</c:v>
                </c:pt>
                <c:pt idx="1">
                  <c:v>Supersport 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Boomerang</c:v>
                </c:pt>
                <c:pt idx="6">
                  <c:v>Cartoon Network</c:v>
                </c:pt>
                <c:pt idx="7">
                  <c:v>CNN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412.1</c:v>
                </c:pt>
                <c:pt idx="1">
                  <c:v>313.2</c:v>
                </c:pt>
                <c:pt idx="2">
                  <c:v>192.8</c:v>
                </c:pt>
                <c:pt idx="3">
                  <c:v>191.9</c:v>
                </c:pt>
                <c:pt idx="4">
                  <c:v>90.7</c:v>
                </c:pt>
                <c:pt idx="5">
                  <c:v>73.3</c:v>
                </c:pt>
                <c:pt idx="6">
                  <c:v>70.3</c:v>
                </c:pt>
                <c:pt idx="7">
                  <c:v>67.8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534-471F-81F3-76C9BB1DA0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Avg Session (mins)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Session (mins)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37-4554-BDB1-5B2C73CC958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537-4554-BDB1-5B2C73CC9580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37-4554-BDB1-5B2C73CC9580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37-4554-BDB1-5B2C73CC9580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537-4554-BDB1-5B2C73CC9580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537-4554-BDB1-5B2C73CC9580}"/>
              </c:ext>
            </c:extLst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537-4554-BDB1-5B2C73CC9580}"/>
              </c:ext>
            </c:extLst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537-4554-BDB1-5B2C73CC95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ICC Cricket World Cup 2011</c:v>
                </c:pt>
                <c:pt idx="1">
                  <c:v>Trace TV</c:v>
                </c:pt>
                <c:pt idx="2">
                  <c:v>Supersport Live Events</c:v>
                </c:pt>
                <c:pt idx="3">
                  <c:v>Channel O</c:v>
                </c:pt>
                <c:pt idx="4">
                  <c:v>CNN</c:v>
                </c:pt>
                <c:pt idx="5">
                  <c:v>Boomerang</c:v>
                </c:pt>
                <c:pt idx="6">
                  <c:v>SuperSport Blitz</c:v>
                </c:pt>
                <c:pt idx="7">
                  <c:v>E! Entertainment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16.899999999999999</c:v>
                </c:pt>
                <c:pt idx="1">
                  <c:v>12.1</c:v>
                </c:pt>
                <c:pt idx="2">
                  <c:v>11.5</c:v>
                </c:pt>
                <c:pt idx="3">
                  <c:v>11</c:v>
                </c:pt>
                <c:pt idx="4">
                  <c:v>8.1</c:v>
                </c:pt>
                <c:pt idx="5">
                  <c:v>6.2</c:v>
                </c:pt>
                <c:pt idx="6">
                  <c:v>6.1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537-4554-BDB1-5B2C73CC95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E61-4A96-B51F-2ED7835BFDB2}"/>
              </c:ext>
            </c:extLst>
          </c:dPt>
          <c:dPt>
            <c:idx val="1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61-4A96-B51F-2ED7835BFDB2}"/>
              </c:ext>
            </c:extLst>
          </c:dPt>
          <c:dPt>
            <c:idx val="2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E61-4A96-B51F-2ED7835BFDB2}"/>
              </c:ext>
            </c:extLst>
          </c:dPt>
          <c:dPt>
            <c:idx val="3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E61-4A96-B51F-2ED7835BFDB2}"/>
              </c:ext>
            </c:extLst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E61-4A96-B51F-2ED7835BFDB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E61-4A96-B51F-2ED7835BFDB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E61-4A96-B51F-2ED7835BFDB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E61-4A96-B51F-2ED7835BFDB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E61-4A96-B51F-2ED7835BFDB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E61-4A96-B51F-2ED7835BFDB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Sport</c:v>
                </c:pt>
                <c:pt idx="1">
                  <c:v>Music/Youth</c:v>
                </c:pt>
                <c:pt idx="2">
                  <c:v>Ent/News</c:v>
                </c:pt>
                <c:pt idx="3">
                  <c:v>Kids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4106</c:v>
                </c:pt>
                <c:pt idx="1">
                  <c:v>2113</c:v>
                </c:pt>
                <c:pt idx="2">
                  <c:v>2098</c:v>
                </c:pt>
                <c:pt idx="3">
                  <c:v>1507</c:v>
                </c:pt>
                <c:pt idx="4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E61-4A96-B51F-2ED7835BFD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65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TV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80467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VIEWERSHIP ANALYTICS CASE STUDY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Customer Value Management  |  CEO Briefing  |  Q1 2016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1545"/>
          </a:solidFill>
          <a:ln w="12700">
            <a:solidFill>
              <a:srgbClr val="0D1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06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</a:rPr>
              <a:t>Objective: Provide data-driven insights to grow BrightTV's subscription 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 Source: Databricks  |  workspace.default  |  10,000 sessions  |  5,375 registered users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20-minute CEO briefing 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420624" cy="42062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978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1978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Key metrics dashboard &amp; engagement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27632"/>
            <a:ext cx="420624" cy="4206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1645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User &amp; Usage Trends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186537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Who watches, when, and how often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295144"/>
            <a:ext cx="420624" cy="42062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295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2313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Consumption Drivers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253288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Content, timing, and demographic factors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2962656"/>
            <a:ext cx="420624" cy="42062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29809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Content Recommendations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07008" y="320040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Boosting low-consumption days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630168"/>
            <a:ext cx="420624" cy="4206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3648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Growth Initiatives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386791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Six strategies to grow the subscriber base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297680"/>
            <a:ext cx="420624" cy="42062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07008" y="4315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Conclusions &amp; Next Steps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453542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CVM priorities and action timeline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14884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2633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Q1 2016 performance at a glance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E2761"/>
                </a:solidFill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BrightTV  |  CVM Analytics  |  Q1 2016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Q1 2016 · January–March · SA Time (UTC+2)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514600" cy="10058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960120"/>
            <a:ext cx="64008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33272"/>
            <a:ext cx="2313432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</a:rPr>
              <a:t>10,000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1583741"/>
            <a:ext cx="231343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sessions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960120"/>
            <a:ext cx="2514600" cy="10058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960120"/>
            <a:ext cx="64008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033272"/>
            <a:ext cx="2313432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</a:rPr>
              <a:t>5,375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1583741"/>
            <a:ext cx="231343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Registered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960120"/>
            <a:ext cx="2514600" cy="10058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960120"/>
            <a:ext cx="640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33272"/>
            <a:ext cx="2313432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</a:rPr>
              <a:t>4,386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583741"/>
            <a:ext cx="231343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users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2148840"/>
            <a:ext cx="2514600" cy="10058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2148840"/>
            <a:ext cx="640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221992"/>
            <a:ext cx="2313432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</a:rPr>
              <a:t>1,523 hrs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22960" y="2772461"/>
            <a:ext cx="231343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viewing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148840"/>
            <a:ext cx="2514600" cy="10058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2148840"/>
            <a:ext cx="64008" cy="10058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221992"/>
            <a:ext cx="2313432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</a:rPr>
              <a:t>9.1 mins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474720" y="2772461"/>
            <a:ext cx="231343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session duration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2148840"/>
            <a:ext cx="2514600" cy="10058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2148840"/>
            <a:ext cx="64008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221992"/>
            <a:ext cx="2313432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</a:rPr>
              <a:t>81.6%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26480" y="2772461"/>
            <a:ext cx="231343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Subscriber engagement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337560"/>
            <a:ext cx="8503920" cy="15544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337560"/>
            <a:ext cx="54864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363016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82% of registered users were active viewers in Q1 2016, generating 10,000 sessions across 21 channels. The remaining 989 dormant users represent an immediate win-back opportunity for the CVM team. March drove 48% of all sessions — largely powered by ICC Cricket World Cup 2011 replays on SuperSport.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14884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User &amp; Usage Trends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2633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Viewership patterns across time, day, and hour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E2761"/>
                </a:solidFill>
              </a:rPr>
              <a:t>02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BrightTV  |  CVM Analytics  |  Q1 2016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by Day of Week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Monday is the critical low point — 43% below Friday's peak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960120"/>
          <a:ext cx="5760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629400" y="1005840"/>
            <a:ext cx="2240280" cy="84124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29400" y="1005840"/>
            <a:ext cx="64008" cy="8412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10698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Monday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66560" y="1298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957 sessions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66560" y="14996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Lowest day  •  7.2 min avg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29400" y="2029968"/>
            <a:ext cx="2240280" cy="84124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029968"/>
            <a:ext cx="64008" cy="8412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2093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Friday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23225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1,675 sessions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66560" y="25237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Peak sessions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629400" y="3054096"/>
            <a:ext cx="2240280" cy="84124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3054096"/>
            <a:ext cx="64008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31181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Saturday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3346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1,633 sessions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766560" y="3547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Longest avg: 10.9 min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4069080"/>
            <a:ext cx="8503920" cy="89611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0040" y="4069080"/>
            <a:ext cx="54864" cy="8961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142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2920" y="43616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Monday records 957 sessions — 43% below Friday's peak of 1,675. Targeted Monday programming (sport replays, exclusive premieres) and push notifications sent Sunday evening can significantly lift the weekly floor.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Viewership by Hour of Day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SA Time (UTC+2) — prime time 12:00–19:00 captures 50% of all sessions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960120"/>
          <a:ext cx="8229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858768"/>
            <a:ext cx="64008" cy="548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3858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Dead hours 01–05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5528" y="4096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337 sessions (3%)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70632" y="3858768"/>
            <a:ext cx="64008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3858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Morning 06–11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80360" y="4096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1,640 sessions (16%)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55464" y="3858768"/>
            <a:ext cx="6400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65192" y="3858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Prime time 12–19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65192" y="4096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5,009 sessions (50%)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40296" y="3858768"/>
            <a:ext cx="64008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50024" y="3858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Late night 20–23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50024" y="4096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2,069 sessions (21%)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Session Growth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Strong upward trajectory — March 2× January volumes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960120"/>
          <a:ext cx="8229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4251960"/>
            <a:ext cx="54864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325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544568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Viewership nearly doubled from January (2,199 sessions) to March (4,816 sessions). March alone accounted for 48% of Q1 volume, driven by ICC Cricket World Cup 2011 content on SuperSport. This demonstrates that live and event-driven sport content is the single biggest consumption lever.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Demographics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Age, gender and race profile of active subscribers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9601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983480" y="960120"/>
          <a:ext cx="38404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703320"/>
            <a:ext cx="8503920" cy="12344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20040" y="3703320"/>
            <a:ext cx="5486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" y="3995928"/>
            <a:ext cx="8229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26–35 year-olds dominate with 41% of sessions — a digitally-native, mobile-first audience. Indian/Asian subscribers have the highest avg session depth at 13.3 min vs the 9.1 min overall average (+46%). Female subscribers account for only 10% of sessions despite equal population share — a major strategic gap.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Distribution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Gauteng dominates — Northern Cape &amp; North West significantly under-penetrated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9601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005840"/>
            <a:ext cx="2560320" cy="62179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1005840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051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Western Cape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1325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97.3% activation rate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63640" y="1755648"/>
            <a:ext cx="2560320" cy="62179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755648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1801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Northern Cape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0" y="20756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95.3% activation rate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63640" y="2505456"/>
            <a:ext cx="2560320" cy="62179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505456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2551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North West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0" y="2825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94.4% activation rate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63640" y="3255264"/>
            <a:ext cx="2560320" cy="62179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3255264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300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Eastern Cape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0" y="3575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94.4% activation rate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63640" y="4005072"/>
            <a:ext cx="2560320" cy="62179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4005072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4050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Gauteng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4325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94.3% activation rate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20040" y="4343400"/>
            <a:ext cx="850392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0040" y="4343400"/>
            <a:ext cx="54864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4416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2920" y="46360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Gauteng accounts for 37% of all sessions, reflecting economic concentration. Northern Cape (2%) and North West (3%) are high-potential, low-penetration markets requiring targeted ISP-bundle partnerships and geo-targeted digital campaigns.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14884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Consumption Drivers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2633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What content, timing and audiences drive the most viewing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E2761"/>
                </a:solidFill>
              </a:rPr>
              <a:t>03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BrightTV  |  CVM Analytics  |  Q1 2016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Total viewing hours vs average session depth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96012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577840" y="960120"/>
          <a:ext cx="3291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20040" y="4315968"/>
            <a:ext cx="54864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" y="46085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ICC Cricket World Cup 2011 leads in engagement depth at 16.9 min avg — 85% above the overall average. SuperSport Live Events tops in both total hours (313h) and session volume. Live sport is unambiguously the #1 consumption driver.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Factors Influencing Consumption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Six data-driven drivers identified from the Databricks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005840"/>
            <a:ext cx="64008" cy="11430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0881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Content 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2104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Live sport &amp; event cricket create session spikes 2–3× the daily average. Sport is the #1 driver with 16.9 min avg session depth.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005840"/>
            <a:ext cx="64008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10881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Time of 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84064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Prime time 12–19h captures 50% of sessions. Scheduling key content launches in this window maximises reach.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304288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304288"/>
            <a:ext cx="64008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2386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Day of Week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" y="26700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Friday &amp; Saturday peak. Monday is the critical low at 957 sessions — 43% below the weekly peak.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2304288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304288"/>
            <a:ext cx="64008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2386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Demographics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4064" y="26700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26–35 drives 41% of sessions. Indian/Asian users watch 46% longer (13.3 min) than the 9.1 min average.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3602736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602736"/>
            <a:ext cx="64008" cy="11430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3685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Geography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" y="396849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Urban provinces (Gauteng 37%, WC 19%) dominate. Rural provinces correlate with lower device/connectivity access.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602736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602736"/>
            <a:ext cx="64008" cy="11430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3685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Engagement Depth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84064" y="396849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High-tier users (10+ sessions) are a small but disproportionately valuable cohort. Retention here protects core revenue.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Genre-Level Consumption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Sport dominates but Kids &amp; Music/Youth signal strong secondary demand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960120"/>
          <a:ext cx="4389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49240" y="1097280"/>
            <a:ext cx="3474720" cy="74980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49240" y="1097280"/>
            <a:ext cx="64008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04688" y="11704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Sport / Events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04688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41% of sessions · 16.9 min avg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2011680"/>
            <a:ext cx="3474720" cy="74980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49240" y="2011680"/>
            <a:ext cx="64008" cy="7498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04688" y="2084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Kids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04688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15% of sessions · Cartoon Network + Boomerang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2926080"/>
            <a:ext cx="3474720" cy="74980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49240" y="2926080"/>
            <a:ext cx="6400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04688" y="2999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Music / Youth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04688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20% of sessions · Trace TV + Channel 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49240" y="3840480"/>
            <a:ext cx="3474720" cy="74980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49240" y="3840480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04688" y="3913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Ent / News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04688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20% of sessions · CNN · Africa Magic · E!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14884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Content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2633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Programming strategies to lift low-consumption days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E2761"/>
                </a:solidFill>
              </a:rPr>
              <a:t>04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BrightTV  |  CVM Analytics  |  Q1 2016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 Monday &amp; Low-Traffic Days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Monday has 957 sessions — 43% below Friday. Six programming recommendations: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960120"/>
            <a:ext cx="64008" cy="11430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042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Sport Replays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2104" y="1325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Schedule ICC Cricket &amp; SuperSport replays Monday mornings. Sport drives the deepest sessions (16.9 min avg).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37760" y="960120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960120"/>
            <a:ext cx="64008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1042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Movie Premieres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84064" y="1325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Debut new titles Monday-only to create must-watch events. Africa Magic &amp; M-Net suit the 26–45 segment.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258568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258568"/>
            <a:ext cx="64008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23408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Music Countdowns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" y="2624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Trace TV &amp; Channel O attract 18–35 viewers. Curated Monday music specials drive repeat weekday visits.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2258568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258568"/>
            <a:ext cx="64008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23408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Kids' Afternoon Block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4064" y="2624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Cartoon Network &amp; Boomerang perform consistently. A 16:00–19:00 block captures after-school family viewing.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3557016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557016"/>
            <a:ext cx="64008" cy="11430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3639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Push Notifications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" y="392277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Send Sunday-evening alerts promoting Monday-exclusive content. Personalise by age, province &amp; past channel.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557016"/>
            <a:ext cx="4069080" cy="11430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557016"/>
            <a:ext cx="64008" cy="11430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3639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Early-Bird Incentives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84064" y="392277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Reward users watching before 10:00 on Mondays with loyalty points — targeting the under-used morning window.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14884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Growth Initiatives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2633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Six strategies to grow BrightTV's subscriber 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E2761"/>
                </a:solidFill>
              </a:rPr>
              <a:t>05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BrightTV  |  CVM Analytics  |  Q1 2016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Initiatives to Grow the Subscriber Base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Aligned to the CEO's subscription growth objective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4069080" cy="117043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960120"/>
            <a:ext cx="64008" cy="11704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76472" y="1033272"/>
            <a:ext cx="868680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10332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Quick Win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32104" y="103327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Re-engage 989 Dormant Users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2104" y="13258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Personalised win-back campaign with 7-day free trial &amp; onboarding push notifications. Immediate revenue potential.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4069080" cy="117043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60120"/>
            <a:ext cx="64008" cy="1170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8432" y="1033272"/>
            <a:ext cx="868680" cy="2011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10332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Quick Win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84064" y="103327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Social Media Referral Programme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84064" y="13258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5,375 users have social handles on file. Refer-a-friend campaign offering free subscription days as reward.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2258568"/>
            <a:ext cx="4069080" cy="117043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2258568"/>
            <a:ext cx="64008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76472" y="2331720"/>
            <a:ext cx="86868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6472" y="23317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Strategic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32104" y="233172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Female Audience Strategy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" y="262432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Only 10% of sessions are female. Curate drama, lifestyle &amp; reality content. Run targeted social media ads.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2258568"/>
            <a:ext cx="4069080" cy="117043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258568"/>
            <a:ext cx="64008" cy="1170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2331720"/>
            <a:ext cx="86868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23317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Strategic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84064" y="233172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Youth (18–25) Drive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84064" y="262432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Underperforming vs population size. Student pricing, mobile-first UX, and youth content partnerships (gaming, music).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" y="3557016"/>
            <a:ext cx="4069080" cy="117043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3557016"/>
            <a:ext cx="64008" cy="11704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76472" y="3630168"/>
            <a:ext cx="868680" cy="20116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76472" y="3630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Growth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32104" y="363016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Provincial Expansion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2104" y="392277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NC &amp; NW have &lt;5% penetration. Partner with local ISPs for bundled offers and geo-targeted campaigns.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37760" y="3557016"/>
            <a:ext cx="4069080" cy="117043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3557016"/>
            <a:ext cx="64008" cy="11704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28432" y="3630168"/>
            <a:ext cx="868680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28432" y="3630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Premium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084064" y="363016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Live Sport Rights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84064" y="392277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ICC Cricket &amp; SuperSport are the #1 engagement drivers. Exclusive live sport rights are a powerful acquisition magnet.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CVM Prioritisation Matrix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Recommended initiative sequencing by impact vs effort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05840"/>
          <a:ext cx="8229600" cy="37490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Re-engage 989 dormant users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0–30 days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Social media referral programme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0–30 days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Monday content programming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30–60 days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Female audience strategy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30–90 days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Youth 18–25 subscription drive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60–90 days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Provincial expansion campaign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90–180 days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F476F"/>
                          </a:solidFill>
                        </a:rPr>
                        <a:t>P3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Live sport rights acquisition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Very 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6–12 months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F476F"/>
                          </a:solidFill>
                        </a:rPr>
                        <a:t>P3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14884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Conclusions &amp;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2633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Summary and CVM action timeline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E2761"/>
                </a:solidFill>
              </a:rPr>
              <a:t>06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BrightTV  |  CVM Analytics  |  Q1 2016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777240"/>
            <a:ext cx="493776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772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Conclusions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BrightTV has a strong base — 81.6% active engagement rate in Q1 2016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Live sport (cricket, SuperSport) is the #1 driver of sessions AND depth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Monday is the critical low — targeted programming can close the 43% gap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989 dormant users are a ready, immediate win-back opportunity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Female &amp; youth (18–25) segments are severely underserved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Gauteng dominates; NC &amp; NW are high-potential, low-penetration markets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Prime time 12:00–19:00 is the golden content launch window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97880" y="777240"/>
            <a:ext cx="2926080" cy="32918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777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188720"/>
            <a:ext cx="2926080" cy="420624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1888" y="12252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76F"/>
                </a:solidFill>
              </a:rPr>
              <a:t>Week 1–2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61888" y="138988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Launch win-back campaign for 989 dormant users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97880" y="1682496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17190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76F"/>
                </a:solidFill>
              </a:rPr>
              <a:t>Week 2–4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61888" y="188366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Design referral programme using social media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2176272"/>
            <a:ext cx="2926080" cy="420624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1888" y="22128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76F"/>
                </a:solidFill>
              </a:rPr>
              <a:t>Month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61888" y="23774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Pilot Monday sport replay programming block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97880" y="2670048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76F"/>
                </a:solidFill>
              </a:rPr>
              <a:t>Month 2–3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61888" y="287121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Build female content strategy &amp; campaign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97880" y="3163824"/>
            <a:ext cx="2926080" cy="420624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32004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76F"/>
                </a:solidFill>
              </a:rPr>
              <a:t>Month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61888" y="33649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Launch youth pricing tier &amp; mobile UX audit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3657600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36941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76F"/>
                </a:solidFill>
              </a:rPr>
              <a:t>Month 4+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61888" y="38587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Provincial expansion with ISP partnerships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16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BrightTV  |  CVM Analytics  |  Q1 2016  |  Prepared for the CEO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1515</Words>
  <Application>Microsoft Office PowerPoint</Application>
  <PresentationFormat>On-screen Show (16:9)</PresentationFormat>
  <Paragraphs>284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— CEO Case Study</dc:title>
  <dc:subject>PptxGenJS Presentation</dc:subject>
  <dc:creator>PptxGenJS</dc:creator>
  <cp:lastModifiedBy>Juli</cp:lastModifiedBy>
  <cp:revision>1</cp:revision>
  <dcterms:created xsi:type="dcterms:W3CDTF">2026-04-18T18:04:56Z</dcterms:created>
  <dcterms:modified xsi:type="dcterms:W3CDTF">2026-04-18T20:44:10Z</dcterms:modified>
</cp:coreProperties>
</file>